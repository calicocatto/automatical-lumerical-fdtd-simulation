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61" r:id="rId3"/>
    <p:sldId id="520" r:id="rId5"/>
    <p:sldId id="521" r:id="rId6"/>
    <p:sldId id="531" r:id="rId7"/>
    <p:sldId id="524" r:id="rId8"/>
    <p:sldId id="533" r:id="rId9"/>
    <p:sldId id="534" r:id="rId10"/>
    <p:sldId id="525" r:id="rId11"/>
    <p:sldId id="541" r:id="rId12"/>
    <p:sldId id="535" r:id="rId13"/>
    <p:sldId id="532" r:id="rId14"/>
    <p:sldId id="277" r:id="rId15"/>
  </p:sldIdLst>
  <p:sldSz cx="12192000" cy="6858000"/>
  <p:notesSz cx="6858000" cy="9144000"/>
  <p:embeddedFontLst>
    <p:embeddedFont>
      <p:font typeface="HarmonyOS Sans SC" panose="00000500000000000000" pitchFamily="2" charset="-122"/>
      <p:regular r:id="rId21"/>
    </p:embeddedFont>
    <p:embeddedFont>
      <p:font typeface="微软雅黑" panose="020B0503020204020204" charset="-122"/>
      <p:regular r:id="rId22"/>
    </p:embeddedFont>
    <p:embeddedFont>
      <p:font typeface="汉仪正圆-55W" panose="00020600040101010101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7004" initials="4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001"/>
    <a:srgbClr val="9B0000"/>
    <a:srgbClr val="B21117"/>
    <a:srgbClr val="A00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61" y="1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8.xml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A0AB4E-63C4-9548-A330-CCCE1C9D771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>
            <p:custDataLst>
              <p:tags r:id="rId2"/>
            </p:custDataLst>
          </p:nvPr>
        </p:nvSpPr>
        <p:spPr>
          <a:xfrm>
            <a:off x="2967990" y="96520"/>
            <a:ext cx="62560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8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 userDrawn="1">
            <p:custDataLst>
              <p:tags r:id="rId3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 userDrawn="1"/>
        </p:nvSpPr>
        <p:spPr>
          <a:xfrm>
            <a:off x="1871345" y="2209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>
            <p:custDataLst>
              <p:tags r:id="rId2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6578" y="6445020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86AB646-09EA-441B-8B03-D5BB830239BE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7287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armonyOS Sans SC" panose="00000500000000000000" pitchFamily="2" charset="-122"/>
          <a:ea typeface="HarmonyOS Sans SC" panose="00000500000000000000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9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7.xml"/><Relationship Id="rId2" Type="http://schemas.openxmlformats.org/officeDocument/2006/relationships/image" Target="../media/image1.png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0" y="1203960"/>
            <a:ext cx="12192000" cy="2574925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455019" y="2076450"/>
            <a:ext cx="9281962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正圆-55W" panose="00020600040101010101" charset="-122"/>
              </a:rPr>
              <a:t>Recent Work</a:t>
            </a:r>
            <a:endParaRPr 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正圆-55W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8000" y="450786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汇报人</a:t>
            </a:r>
            <a:r>
              <a:rPr lang="zh-CN" altLang="en-US" sz="2000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涂增基</a:t>
            </a:r>
            <a:endParaRPr lang="en-US" altLang="zh-CN" sz="2000" b="1" dirty="0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时间：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日</a:t>
            </a:r>
            <a:endParaRPr lang="zh-CN" altLang="en-US" sz="2000" b="1" dirty="0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5929630"/>
            <a:ext cx="2538095" cy="708660"/>
          </a:xfrm>
          <a:prstGeom prst="rect">
            <a:avLst/>
          </a:prstGeom>
        </p:spPr>
      </p:pic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6836194" y="6780865"/>
            <a:ext cx="5381839" cy="97126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charset="-122"/>
              <a:ea typeface="汉仪正圆-5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用与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75335"/>
            <a:ext cx="1067879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几种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Vibe Coding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方法：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与网页端大模型直接对话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Ctrl+C  Ctrl+V </a:t>
            </a:r>
            <a:b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几乎仅仅调用大模型，以及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使用部分工具（如联网搜索）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Agent </a:t>
            </a: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编程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（大模型作为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大脑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，还可以使用很多工具，如操控文件，运行终端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指令）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集成开发环境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IDE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，如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VS Code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插件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或者原生集成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AI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能力的集成开发环境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- 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Trae</a:t>
            </a: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（字节）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AntiGravity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Google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Cursor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57250" lvl="1" indent="-4000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Linux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命令行工具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—— Claude Code CLI 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Codex CLI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（服务器开发友好，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内存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占用低）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1928" t="13101" r="76378" b="46368"/>
          <a:stretch>
            <a:fillRect/>
          </a:stretch>
        </p:blipFill>
        <p:spPr>
          <a:xfrm>
            <a:off x="8594725" y="4135755"/>
            <a:ext cx="2815590" cy="21037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5" y="4135755"/>
            <a:ext cx="2798445" cy="20986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620" y="4129405"/>
            <a:ext cx="3590925" cy="210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75335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Trae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国际版的演示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：（调用模型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Gemini-3-Pro-Preview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1329690"/>
            <a:ext cx="9785985" cy="5236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75335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直接给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@Solo Coder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rompt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1636395"/>
            <a:ext cx="8540750" cy="4701540"/>
          </a:xfrm>
          <a:prstGeom prst="rect">
            <a:avLst/>
          </a:prstGeom>
          <a:effectLst>
            <a:glow rad="63500">
              <a:srgbClr val="00B0F0">
                <a:alpha val="40000"/>
              </a:srgbClr>
            </a:glow>
          </a:effectLst>
        </p:spPr>
      </p:pic>
      <p:cxnSp>
        <p:nvCxnSpPr>
          <p:cNvPr id="6" name="直接连接符 5"/>
          <p:cNvCxnSpPr/>
          <p:nvPr/>
        </p:nvCxnSpPr>
        <p:spPr>
          <a:xfrm>
            <a:off x="9130030" y="1636395"/>
            <a:ext cx="0" cy="2330450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379585" y="1492885"/>
            <a:ext cx="24428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具体任务系列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描述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Lumerical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版本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解释器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位置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仿真波段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工艺参数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器件描述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130030" y="4098290"/>
            <a:ext cx="0" cy="478155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379585" y="4063365"/>
            <a:ext cx="24428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验收条件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130030" y="4729480"/>
            <a:ext cx="0" cy="747395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79585" y="4604385"/>
            <a:ext cx="25990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u"/>
            </a:pP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提醒一下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Agent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，需要他自己</a:t>
            </a:r>
            <a:r>
              <a: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debug</a:t>
            </a:r>
            <a:r>
              <a:rPr lang="zh-CN" altLang="en-US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迭代。</a:t>
            </a:r>
            <a:endParaRPr lang="zh-CN" altLang="en-US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9130030" y="5629910"/>
            <a:ext cx="0" cy="733425"/>
          </a:xfrm>
          <a:prstGeom prst="line">
            <a:avLst/>
          </a:prstGeom>
          <a:ln w="28575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9379585" y="5532755"/>
            <a:ext cx="25990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为了方便，让他自己做好最终的文件给我。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75335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Agent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具体思考、工作的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过程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" y="1492885"/>
            <a:ext cx="3737610" cy="32689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835" y="1492885"/>
            <a:ext cx="3267710" cy="32861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28700" y="5060315"/>
            <a:ext cx="470789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600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</a:rPr>
              <a:t>在一个隔离的、安全的虚拟环境中执行代码和命令，而不是直接在本地电脑的真实系统上运行。</a:t>
            </a:r>
            <a:endParaRPr lang="zh-CN" altLang="en-US" sz="1600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730" y="1492885"/>
            <a:ext cx="4652645" cy="32867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20940" y="5060315"/>
            <a:ext cx="4496435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600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altLang="zh-CN" sz="1600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</a:rPr>
              <a:t>Lumerical</a:t>
            </a:r>
            <a:r>
              <a:rPr lang="zh-CN" altLang="en-US" sz="1600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</a:rPr>
              <a:t>报错：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name ‘n_o_LN’is not defined </a:t>
            </a:r>
            <a:r>
              <a:rPr lang="en-US" altLang="zh-CN" sz="1600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</a:rPr>
              <a:t>会自己思考，然后修改代码，重新测试</a:t>
            </a:r>
            <a:endParaRPr lang="en-US" altLang="zh-CN" sz="1600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87400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大概过了一个小时左右，他就会自动完成所有的设计和仿真，生成报告，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并在文件夹中生成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下列文件：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590" y="4373245"/>
            <a:ext cx="6134100" cy="20726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85" y="1505585"/>
            <a:ext cx="5692775" cy="26047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75" y="1431925"/>
            <a:ext cx="4478020" cy="2752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1685" y="869950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打开生成的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TFLN_MMI_1x2_Optimized.fsp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来检验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690" y="1450975"/>
            <a:ext cx="4960620" cy="24047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690" y="4076065"/>
            <a:ext cx="4960620" cy="21488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50975"/>
            <a:ext cx="3002280" cy="40309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020" y="1450975"/>
            <a:ext cx="3135630" cy="4773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775335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一键复现论文中的</a:t>
            </a: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</a:t>
            </a:r>
            <a:endParaRPr lang="zh-CN" altLang="en-US" b="1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570" y="1939925"/>
            <a:ext cx="952500" cy="10363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1685" y="1282065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发送文章的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PDF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，和一段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rompt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" y="3543935"/>
            <a:ext cx="5198745" cy="14966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070" y="3230880"/>
            <a:ext cx="5200015" cy="36239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2895" y="791845"/>
            <a:ext cx="5981700" cy="2390140"/>
          </a:xfrm>
          <a:prstGeom prst="rect">
            <a:avLst/>
          </a:prstGeom>
          <a:effectLst>
            <a:glow rad="63500">
              <a:srgbClr val="00B0F0">
                <a:alpha val="40000"/>
              </a:srgbClr>
            </a:glow>
          </a:effectLst>
        </p:spPr>
      </p:pic>
      <p:sp>
        <p:nvSpPr>
          <p:cNvPr id="3" name="文本框 2"/>
          <p:cNvSpPr txBox="1"/>
          <p:nvPr/>
        </p:nvSpPr>
        <p:spPr>
          <a:xfrm>
            <a:off x="2747010" y="5274945"/>
            <a:ext cx="24485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Crossing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中间有呈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45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°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的三角锯齿状结构：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rcRect l="46611" t="35500" r="41397" b="44805"/>
          <a:stretch>
            <a:fillRect/>
          </a:stretch>
        </p:blipFill>
        <p:spPr>
          <a:xfrm>
            <a:off x="10161905" y="4542790"/>
            <a:ext cx="1967230" cy="2252345"/>
          </a:xfrm>
          <a:prstGeom prst="rect">
            <a:avLst/>
          </a:prstGeom>
          <a:effectLst>
            <a:glow rad="114300">
              <a:schemeClr val="accent3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19110" y="756285"/>
            <a:ext cx="38519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复现的结果：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97%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以上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的反射率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380" y="1291590"/>
            <a:ext cx="2863215" cy="28911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380" y="4287520"/>
            <a:ext cx="2863215" cy="2402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40" y="1407795"/>
            <a:ext cx="7041515" cy="49079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80440" y="841375"/>
            <a:ext cx="704088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模型中间有三角锯齿状结构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1685" y="678180"/>
            <a:ext cx="106787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复现的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结果：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75" y="1216660"/>
            <a:ext cx="2540635" cy="2565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05" y="1216660"/>
            <a:ext cx="3088640" cy="25654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245" y="4320540"/>
            <a:ext cx="2590165" cy="24803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81685" y="3813810"/>
            <a:ext cx="1106805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带缺陷光子晶体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这种建模很麻烦的模型，直接喂文章，发图片调用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视觉，简单交流几次，也能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复现出来：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490" y="4394835"/>
            <a:ext cx="2679700" cy="232473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040" y="4392295"/>
            <a:ext cx="2988945" cy="231584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620" y="1220470"/>
            <a:ext cx="3047365" cy="2557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>
            <p:custDataLst>
              <p:tags r:id="rId1"/>
            </p:custDataLst>
          </p:nvPr>
        </p:nvCxnSpPr>
        <p:spPr>
          <a:xfrm>
            <a:off x="781685" y="678180"/>
            <a:ext cx="10582910" cy="0"/>
          </a:xfrm>
          <a:prstGeom prst="line">
            <a:avLst/>
          </a:prstGeom>
          <a:ln w="38100" cmpd="sng">
            <a:solidFill>
              <a:srgbClr val="9A000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218055" y="104140"/>
            <a:ext cx="775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用于全自动</a:t>
            </a:r>
            <a:r>
              <a:rPr lang="en-US" altLang="zh-CN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 sz="2400" b="1" dirty="0">
                <a:solidFill>
                  <a:srgbClr val="9A000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</a:t>
            </a:r>
            <a:endParaRPr lang="zh-CN" altLang="en-US" sz="2400" b="1" dirty="0">
              <a:solidFill>
                <a:srgbClr val="9A000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1520" y="2611755"/>
            <a:ext cx="107842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一些额外的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经验总结：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测试过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FDTD</a:t>
            </a:r>
            <a:r>
              <a:rPr lang="zh-CN" altLang="en-US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FDE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b="1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Interconnect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三种求解器，都可以正常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但是测试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CHARGE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的时候总是报错，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debug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困难，可能是因为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CHARGE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用的人少，供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训练数据量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也少。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Trae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国际版调用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Gemini-3-Pro-Preview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GPT 5.2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模型，以及用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Cursor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Claude Sonnet 4.5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都能完成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Lumerical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自动化仿真，但是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Trae CN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GLM-5 , Kimi 2.5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都没能完成。可能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得等再迭代几个版本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Vibe Coding Agent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Tokens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消耗较大。在闲鱼上买一些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Trae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账号或者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API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，完成上述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Lumerical 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仿真任务大概花了一块多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还有一些更高级的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技巧（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Subagents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Skills……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），还在探索。欢迎一起交流，</a:t>
            </a:r>
            <a:r>
              <a:rPr lang="zh-CN" altLang="en-US">
                <a:solidFill>
                  <a:srgbClr val="2D26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提高效率。</a:t>
            </a:r>
            <a:endParaRPr lang="zh-CN" altLang="en-US">
              <a:solidFill>
                <a:srgbClr val="2D262A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1928" t="13101" r="76378" b="46368"/>
          <a:stretch>
            <a:fillRect/>
          </a:stretch>
        </p:blipFill>
        <p:spPr>
          <a:xfrm>
            <a:off x="8325485" y="754380"/>
            <a:ext cx="2582545" cy="19297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40" y="754380"/>
            <a:ext cx="2566670" cy="19246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0" y="748030"/>
            <a:ext cx="3293110" cy="193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0" y="1203960"/>
            <a:ext cx="12192000" cy="2574925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3999865" y="2004695"/>
            <a:ext cx="41922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汉仪正圆-55W" panose="00020600040101010101" charset="-122"/>
              </a:rPr>
              <a:t>感谢观看！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汉仪正圆-55W" panose="00020600040101010101" charset="-122"/>
            </a:endParaRPr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5929630"/>
            <a:ext cx="2538095" cy="708660"/>
          </a:xfrm>
          <a:prstGeom prst="rect">
            <a:avLst/>
          </a:prstGeom>
        </p:spPr>
      </p:pic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6836194" y="6780865"/>
            <a:ext cx="5381839" cy="97126"/>
          </a:xfrm>
          <a:prstGeom prst="rect">
            <a:avLst/>
          </a:prstGeom>
          <a:solidFill>
            <a:srgbClr val="9A0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正圆-55W" panose="00020600040101010101" charset="-122"/>
              <a:ea typeface="汉仪正圆-55W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450786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汇报人</a:t>
            </a:r>
            <a:r>
              <a:rPr lang="zh-CN" altLang="en-US" sz="2000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涂增基</a:t>
            </a:r>
            <a:endParaRPr lang="en-US" altLang="zh-CN" sz="2000" b="1" dirty="0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时间：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2026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  <a:r>
              <a:rPr lang="en-US" altLang="zh-CN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9B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日</a:t>
            </a:r>
            <a:endParaRPr lang="zh-CN" altLang="en-US" sz="2000" b="1" dirty="0">
              <a:solidFill>
                <a:srgbClr val="9B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MzEwNTM5NzYwMDRjMzkwZTVkZjY2ODkwMGIxNGU0OTUifQ=="/>
  <p:tag name="commondata" val="eyJoZGlkIjoiNDVkMjhkZjQxMDBhYzhiNTUxY2RkN2Y1MmNmNzBjMzcifQ=="/>
  <p:tag name="resource_record_key" val="{&quot;13&quot;:[20482067,436495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</Words>
  <Application>WPS 演示</Application>
  <PresentationFormat>宽屏</PresentationFormat>
  <Paragraphs>85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HarmonyOS Sans SC</vt:lpstr>
      <vt:lpstr>微软雅黑</vt:lpstr>
      <vt:lpstr>汉仪正圆-55W</vt:lpstr>
      <vt:lpstr>Wingdings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ZJ T</dc:creator>
  <cp:lastModifiedBy>祈愿的猫</cp:lastModifiedBy>
  <cp:revision>1253</cp:revision>
  <dcterms:created xsi:type="dcterms:W3CDTF">2023-08-09T12:44:00Z</dcterms:created>
  <dcterms:modified xsi:type="dcterms:W3CDTF">2026-03-02T03:30:08Z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